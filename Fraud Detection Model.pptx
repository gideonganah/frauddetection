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51" autoAdjust="0"/>
    <p:restoredTop sz="94660"/>
  </p:normalViewPr>
  <p:slideViewPr>
    <p:cSldViewPr snapToGrid="0">
      <p:cViewPr>
        <p:scale>
          <a:sx n="66" d="100"/>
          <a:sy n="66" d="100"/>
        </p:scale>
        <p:origin x="-456" y="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994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5837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7389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981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93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13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31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851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1817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897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998404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8401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64996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587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12175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704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3C4D0-C355-4A9C-ACE3-CA339E60F6CB}" type="datetimeFigureOut">
              <a:rPr lang="en-GB" smtClean="0"/>
              <a:t>09/06/2026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5ADC126-0D3D-4CEF-8A91-AE18902B10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6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A1FA8-059C-E1E2-9A22-2CB99048C8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Fraud Detection Model: Data‑Driven Approach to Reducing Financial Risk</a:t>
            </a:r>
            <a:r>
              <a:rPr lang="en-GB" dirty="0"/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BB90B-B15C-86DD-84A6-8CD2DDC99D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i="1" dirty="0"/>
              <a:t>Prepared by: Gideon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09993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B097-6D30-C8BA-6E1F-992D09A15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2D9C6-4142-7192-DCE4-357FAEA0D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16" y="2133600"/>
            <a:ext cx="10782596" cy="3777622"/>
          </a:xfrm>
        </p:spPr>
        <p:txBody>
          <a:bodyPr>
            <a:noAutofit/>
          </a:bodyPr>
          <a:lstStyle/>
          <a:p>
            <a:r>
              <a:rPr lang="en-GB" sz="2400" dirty="0"/>
              <a:t>Built a machine‑learning model to detect fraudulent transactions</a:t>
            </a:r>
          </a:p>
          <a:p>
            <a:r>
              <a:rPr lang="en-GB" sz="2400" dirty="0"/>
              <a:t>Analysed behavioural, temporal, and transactional patterns</a:t>
            </a:r>
          </a:p>
          <a:p>
            <a:r>
              <a:rPr lang="en-GB" sz="2400" dirty="0"/>
              <a:t>Engineered features to capture risk signals (time, device, IP, velocity, corridor risk etc.)</a:t>
            </a:r>
          </a:p>
          <a:p>
            <a:r>
              <a:rPr lang="en-GB" sz="2400" dirty="0"/>
              <a:t>Trained and evaluated Logistic Regression, KNN and Random Forest</a:t>
            </a:r>
          </a:p>
          <a:p>
            <a:r>
              <a:rPr lang="en-GB" sz="2400" dirty="0"/>
              <a:t>Achieve high precision and strong recall on minority fraud class</a:t>
            </a:r>
          </a:p>
          <a:p>
            <a:r>
              <a:rPr lang="en-GB" sz="2400" dirty="0"/>
              <a:t>Model shows strong potential to reduce fraud losses and operational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3A3342-2F38-1B0F-B727-C547C2F53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Achieved high precision and strong recall on minority fraud class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CB8850D-ADD1-CF4D-9FA8-B37C65D67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-1836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5526142-1B11-80C8-F936-65711F1D8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4035"/>
            <a:ext cx="2648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186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1D342-8300-5043-FADD-B2D3D8180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Overview / Problem We’re Solving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70DD8-F116-0CB3-B5A1-3B6135D91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dirty="0"/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The Business Problem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Fraudulent transactions cause direct financial loss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Fraud undermines customer trust and increases operational overhead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Char char=""/>
              <a:tabLst/>
              <a:defRPr/>
            </a:pPr>
            <a:r>
              <a:rPr kumimoji="0" lang="en-GB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Fraud patterns evolve quickly and are difficult to detect manually</a:t>
            </a:r>
            <a:endParaRPr lang="en-GB" dirty="0"/>
          </a:p>
          <a:p>
            <a:r>
              <a:rPr lang="en-GB" dirty="0"/>
              <a:t>Our Goal</a:t>
            </a:r>
          </a:p>
          <a:p>
            <a:pPr lvl="1"/>
            <a:r>
              <a:rPr lang="en-GB" dirty="0"/>
              <a:t>Build a machine‑learning model that detects fraud early and accurately.</a:t>
            </a:r>
          </a:p>
          <a:p>
            <a:pPr lvl="1"/>
            <a:r>
              <a:rPr lang="en-GB" dirty="0"/>
              <a:t>Prioritise recall to minimise missed fraud.</a:t>
            </a:r>
          </a:p>
          <a:p>
            <a:pPr lvl="1"/>
            <a:r>
              <a:rPr lang="en-GB" dirty="0"/>
              <a:t>Provide a scalable, automated fraud‑screening system.</a:t>
            </a:r>
          </a:p>
        </p:txBody>
      </p:sp>
    </p:spTree>
    <p:extLst>
      <p:ext uri="{BB962C8B-B14F-4D97-AF65-F5344CB8AC3E}">
        <p14:creationId xmlns:p14="http://schemas.microsoft.com/office/powerpoint/2010/main" val="1261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2CF0C-52FC-172C-1A5D-40635E23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Core Decisions We Made</a:t>
            </a:r>
            <a:br>
              <a:rPr lang="en-GB" dirty="0"/>
            </a:br>
            <a:endParaRPr lang="en-GB" sz="1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E75249-7B5D-90EF-11E1-F7D8CB696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56" y="1623526"/>
            <a:ext cx="5579706" cy="4610364"/>
          </a:xfrm>
        </p:spPr>
        <p:txBody>
          <a:bodyPr>
            <a:normAutofit/>
          </a:bodyPr>
          <a:lstStyle/>
          <a:p>
            <a:r>
              <a:rPr lang="en-GB" dirty="0"/>
              <a:t>Data &amp; EDA‑Driven Decisions</a:t>
            </a:r>
          </a:p>
          <a:p>
            <a:pPr lvl="1"/>
            <a:r>
              <a:rPr lang="en-GB" dirty="0"/>
              <a:t>Severe class imbalance → accuracy alone is misleading.</a:t>
            </a:r>
          </a:p>
          <a:p>
            <a:pPr lvl="1"/>
            <a:r>
              <a:rPr lang="en-GB" dirty="0"/>
              <a:t>Fraud patterns found in amount, time, weekday, device/IP behaviour.</a:t>
            </a:r>
          </a:p>
          <a:p>
            <a:pPr lvl="1"/>
            <a:r>
              <a:rPr lang="en-GB" dirty="0"/>
              <a:t>Engineered features: time encodings, weekend flag, velocity, device trust, corridor risk, missingness indicators.</a:t>
            </a:r>
          </a:p>
          <a:p>
            <a:r>
              <a:rPr lang="en-GB" dirty="0"/>
              <a:t>Modelling Decisions</a:t>
            </a:r>
          </a:p>
          <a:p>
            <a:pPr lvl="1"/>
            <a:r>
              <a:rPr lang="en-GB" dirty="0"/>
              <a:t>Pipelines to prevent leakage.</a:t>
            </a:r>
          </a:p>
          <a:p>
            <a:pPr lvl="1"/>
            <a:r>
              <a:rPr lang="en-GB" dirty="0"/>
              <a:t>Logistic Regression + Random Forest selected.</a:t>
            </a:r>
          </a:p>
          <a:p>
            <a:pPr lvl="1"/>
            <a:r>
              <a:rPr lang="en-GB" dirty="0"/>
              <a:t>Random Search for hyperparameter tuning.</a:t>
            </a:r>
          </a:p>
          <a:p>
            <a:pPr lvl="1"/>
            <a:r>
              <a:rPr lang="en-GB" dirty="0"/>
              <a:t>Metrics focused on recall, precision, F1,F2, ROC‑AUC.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8BD1F-9E08-BD79-1147-B365E189E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462" y="1905000"/>
            <a:ext cx="5314950" cy="393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12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27B8D-092B-1748-7E78-CEF394890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Insights From the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870C7-21A2-A328-DEE3-06E1FA525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204" y="1540189"/>
            <a:ext cx="4893939" cy="3777622"/>
          </a:xfrm>
        </p:spPr>
        <p:txBody>
          <a:bodyPr/>
          <a:lstStyle/>
          <a:p>
            <a:r>
              <a:rPr lang="en-GB" dirty="0"/>
              <a:t>Behavioural Insights</a:t>
            </a:r>
          </a:p>
          <a:p>
            <a:pPr lvl="1"/>
            <a:r>
              <a:rPr lang="en-GB" dirty="0"/>
              <a:t>Fraud spikes between 4–6 AM → low‑monitoring hours.</a:t>
            </a:r>
          </a:p>
          <a:p>
            <a:pPr lvl="1"/>
            <a:r>
              <a:rPr lang="en-GB" dirty="0"/>
              <a:t>Fraud varies by weekday (highest on Tuesday).</a:t>
            </a:r>
          </a:p>
          <a:p>
            <a:pPr lvl="1"/>
            <a:r>
              <a:rPr lang="en-GB" dirty="0"/>
              <a:t>Fraudulent transactions show higher median amounts and wider spread.</a:t>
            </a:r>
          </a:p>
          <a:p>
            <a:pPr lvl="1"/>
            <a:r>
              <a:rPr lang="en-GB" dirty="0"/>
              <a:t>Weekend vs weekday fraud rates are similar → fraud is continuous.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9A32C7-DCEC-9BAB-B705-90F0855D1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5143" y="1201185"/>
            <a:ext cx="4190253" cy="3582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3D68000-CD4F-B01D-8596-9C7EF8322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54" y="4853162"/>
            <a:ext cx="4893940" cy="191089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4576D26-1824-AEEA-55E2-8C93E6A46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2621" y="4947106"/>
            <a:ext cx="4042555" cy="19108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F60AC3D-332D-B9ED-8516-7212E838F0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3365" y="1264555"/>
            <a:ext cx="2708635" cy="329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296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D4D0A-2BDB-5A12-9303-BAF5C5E27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0492" y="624110"/>
            <a:ext cx="9406242" cy="980755"/>
          </a:xfrm>
        </p:spPr>
        <p:txBody>
          <a:bodyPr/>
          <a:lstStyle/>
          <a:p>
            <a:r>
              <a:rPr lang="en-GB" dirty="0"/>
              <a:t>Cost Implications of Deploying the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84039-6AB9-E020-BBEE-4804BC558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02" y="1604865"/>
            <a:ext cx="4198776" cy="505719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Model Impact</a:t>
            </a:r>
          </a:p>
          <a:p>
            <a:pPr lvl="1"/>
            <a:r>
              <a:rPr lang="en-GB" dirty="0"/>
              <a:t>High recall reduces fraud losses.</a:t>
            </a:r>
          </a:p>
          <a:p>
            <a:pPr lvl="1"/>
            <a:r>
              <a:rPr lang="en-GB" dirty="0"/>
              <a:t>Zero false positives preserves customer experience.</a:t>
            </a:r>
          </a:p>
          <a:p>
            <a:pPr lvl="1"/>
            <a:r>
              <a:rPr lang="en-GB" dirty="0"/>
              <a:t>Automation reduces manual review workload.</a:t>
            </a:r>
          </a:p>
          <a:p>
            <a:pPr lvl="1"/>
            <a:r>
              <a:rPr lang="en-GB" dirty="0"/>
              <a:t>Expected significant reduction in fraud‑related costs.</a:t>
            </a:r>
          </a:p>
          <a:p>
            <a:endParaRPr lang="en-GB" dirty="0"/>
          </a:p>
          <a:p>
            <a:r>
              <a:rPr lang="en-GB" dirty="0"/>
              <a:t>Cost of False Negatives (Missed Fraud)</a:t>
            </a:r>
          </a:p>
          <a:p>
            <a:pPr lvl="1"/>
            <a:r>
              <a:rPr lang="en-GB" dirty="0"/>
              <a:t>Direct financial loss</a:t>
            </a:r>
          </a:p>
          <a:p>
            <a:pPr lvl="1"/>
            <a:r>
              <a:rPr lang="en-GB" dirty="0"/>
              <a:t>Chargebacks</a:t>
            </a:r>
          </a:p>
          <a:p>
            <a:pPr lvl="1"/>
            <a:r>
              <a:rPr lang="en-GB" dirty="0"/>
              <a:t>Regulatory exposure</a:t>
            </a:r>
          </a:p>
          <a:p>
            <a:pPr lvl="1"/>
            <a:r>
              <a:rPr lang="en-GB" dirty="0"/>
              <a:t>Customer trust erosion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B8E593A-1C92-A394-368B-72B1D63FE2BE}"/>
              </a:ext>
            </a:extLst>
          </p:cNvPr>
          <p:cNvSpPr txBox="1">
            <a:spLocks/>
          </p:cNvSpPr>
          <p:nvPr/>
        </p:nvSpPr>
        <p:spPr>
          <a:xfrm>
            <a:off x="4721290" y="1614195"/>
            <a:ext cx="4198776" cy="50571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4C00D6-DE66-9B28-336E-67E78E2DA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290" y="2799183"/>
            <a:ext cx="3770799" cy="31630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21E9A0C-3E28-B8CD-3A64-29C0DF5F2A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2089" y="2869162"/>
            <a:ext cx="3603950" cy="3023119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AF20E49-7421-DFDB-45B4-78F319C5ABBA}"/>
              </a:ext>
            </a:extLst>
          </p:cNvPr>
          <p:cNvSpPr txBox="1">
            <a:spLocks/>
          </p:cNvSpPr>
          <p:nvPr/>
        </p:nvSpPr>
        <p:spPr>
          <a:xfrm>
            <a:off x="5192486" y="2308805"/>
            <a:ext cx="2495938" cy="4810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800" dirty="0"/>
              <a:t>Logistic Regression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95B2A6F-409C-7EBD-BD21-71CBBD52932F}"/>
              </a:ext>
            </a:extLst>
          </p:cNvPr>
          <p:cNvSpPr txBox="1">
            <a:spLocks/>
          </p:cNvSpPr>
          <p:nvPr/>
        </p:nvSpPr>
        <p:spPr>
          <a:xfrm>
            <a:off x="8920066" y="2142925"/>
            <a:ext cx="2495938" cy="4810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1800" dirty="0"/>
              <a:t>Random Forest Regression</a:t>
            </a:r>
          </a:p>
        </p:txBody>
      </p:sp>
    </p:spTree>
    <p:extLst>
      <p:ext uri="{BB962C8B-B14F-4D97-AF65-F5344CB8AC3E}">
        <p14:creationId xmlns:p14="http://schemas.microsoft.com/office/powerpoint/2010/main" val="14860033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7A807-A4FB-1BC6-9629-24FAA2D58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1668" y="379957"/>
            <a:ext cx="8911687" cy="1280890"/>
          </a:xfrm>
        </p:spPr>
        <p:txBody>
          <a:bodyPr/>
          <a:lstStyle/>
          <a:p>
            <a:r>
              <a:rPr lang="en-GB" dirty="0"/>
              <a:t>Recommendations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C62E2-3270-8725-8038-F2515AD59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88" y="1905000"/>
            <a:ext cx="6254588" cy="400622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Recommendations</a:t>
            </a:r>
          </a:p>
          <a:p>
            <a:pPr lvl="1"/>
            <a:r>
              <a:rPr lang="en-GB" dirty="0"/>
              <a:t>Deploy Logistic Regression as the primary model (best recall + ROC‑AUC).</a:t>
            </a:r>
          </a:p>
          <a:p>
            <a:pPr lvl="1"/>
            <a:r>
              <a:rPr lang="en-GB" dirty="0"/>
              <a:t>Tune decision thresholds to further increase recall.</a:t>
            </a:r>
          </a:p>
          <a:p>
            <a:pPr lvl="1"/>
            <a:r>
              <a:rPr lang="en-GB" dirty="0"/>
              <a:t>Add </a:t>
            </a:r>
            <a:r>
              <a:rPr lang="en-GB" dirty="0" err="1"/>
              <a:t>XGBoost</a:t>
            </a:r>
            <a:r>
              <a:rPr lang="en-GB"/>
              <a:t> </a:t>
            </a:r>
            <a:r>
              <a:rPr lang="en-GB" dirty="0"/>
              <a:t>in next iteration for improved performance.</a:t>
            </a:r>
          </a:p>
          <a:p>
            <a:pPr lvl="1"/>
            <a:r>
              <a:rPr lang="en-GB" dirty="0"/>
              <a:t> real‑time monitoring for model drift.</a:t>
            </a:r>
          </a:p>
          <a:p>
            <a:pPr lvl="1"/>
            <a:r>
              <a:rPr lang="en-GB" dirty="0"/>
              <a:t>Expand behavioural features ( device fingerprinting).</a:t>
            </a:r>
          </a:p>
          <a:p>
            <a:r>
              <a:rPr lang="en-GB" dirty="0"/>
              <a:t>Next Steps</a:t>
            </a:r>
          </a:p>
          <a:p>
            <a:pPr lvl="1"/>
            <a:r>
              <a:rPr lang="en-GB" dirty="0"/>
              <a:t>Integrate model into transaction pipeline.</a:t>
            </a:r>
          </a:p>
          <a:p>
            <a:pPr lvl="1"/>
            <a:r>
              <a:rPr lang="en-GB" dirty="0"/>
              <a:t>Build fraud monitoring dashboard.</a:t>
            </a:r>
          </a:p>
          <a:p>
            <a:pPr lvl="1"/>
            <a:r>
              <a:rPr lang="en-GB" dirty="0"/>
              <a:t>Conduct A/B testing with real traffic.</a:t>
            </a:r>
          </a:p>
          <a:p>
            <a:pPr lvl="1"/>
            <a:r>
              <a:rPr lang="en-GB" dirty="0"/>
              <a:t>Measure fraud savings post‑deployment.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754071-71E2-0362-F525-43FB8FDA2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3789" y="1159822"/>
            <a:ext cx="4030823" cy="27482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EAA99-D68F-CB45-2191-48FBCC6E4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3789" y="4109711"/>
            <a:ext cx="4032634" cy="274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74129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819</TotalTime>
  <Words>439</Words>
  <Application>Microsoft Office PowerPoint</Application>
  <PresentationFormat>Widescreen</PresentationFormat>
  <Paragraphs>62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Wisp</vt:lpstr>
      <vt:lpstr>Fraud Detection Model: Data‑Driven Approach to Reducing Financial Risk </vt:lpstr>
      <vt:lpstr>Executive Summary</vt:lpstr>
      <vt:lpstr>Project Overview / Problem We’re Solving</vt:lpstr>
      <vt:lpstr>Core Decisions We Made </vt:lpstr>
      <vt:lpstr>Key Insights From the Data</vt:lpstr>
      <vt:lpstr>Cost Implications of Deploying the Model</vt:lpstr>
      <vt:lpstr>Recommendations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Gideon Ganah [Student-PECS]</dc:creator>
  <cp:lastModifiedBy>Gideon Ganah [Student-PECS]</cp:lastModifiedBy>
  <cp:revision>1</cp:revision>
  <dcterms:created xsi:type="dcterms:W3CDTF">2026-06-09T17:05:31Z</dcterms:created>
  <dcterms:modified xsi:type="dcterms:W3CDTF">2026-06-10T06:45:29Z</dcterms:modified>
</cp:coreProperties>
</file>